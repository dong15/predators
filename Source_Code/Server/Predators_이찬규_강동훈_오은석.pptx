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81" r:id="rId1"/>
  </p:sldMasterIdLst>
  <p:notesMasterIdLst>
    <p:notesMasterId r:id="rId23"/>
  </p:notesMasterIdLst>
  <p:sldIdLst>
    <p:sldId id="256" r:id="rId2"/>
    <p:sldId id="257" r:id="rId3"/>
    <p:sldId id="259" r:id="rId4"/>
    <p:sldId id="294" r:id="rId5"/>
    <p:sldId id="295" r:id="rId6"/>
    <p:sldId id="277" r:id="rId7"/>
    <p:sldId id="278" r:id="rId8"/>
    <p:sldId id="282" r:id="rId9"/>
    <p:sldId id="263" r:id="rId10"/>
    <p:sldId id="266" r:id="rId11"/>
    <p:sldId id="270" r:id="rId12"/>
    <p:sldId id="267" r:id="rId13"/>
    <p:sldId id="288" r:id="rId14"/>
    <p:sldId id="292" r:id="rId15"/>
    <p:sldId id="283" r:id="rId16"/>
    <p:sldId id="289" r:id="rId17"/>
    <p:sldId id="290" r:id="rId18"/>
    <p:sldId id="293" r:id="rId19"/>
    <p:sldId id="273" r:id="rId20"/>
    <p:sldId id="291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-84" y="-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8F593-2606-4E1B-AFCC-EBEEEA45CFD0}">
      <dsp:nvSpPr>
        <dsp:cNvPr id="0" name=""/>
        <dsp:cNvSpPr/>
      </dsp:nvSpPr>
      <dsp:spPr>
        <a:xfrm>
          <a:off x="864977" y="638"/>
          <a:ext cx="2968359" cy="880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800" b="1" kern="1200" dirty="0" smtClean="0">
              <a:solidFill>
                <a:srgbClr val="FF0000"/>
              </a:solidFill>
              <a:latin typeface="+mn-lt"/>
            </a:rPr>
            <a:t>근거리</a:t>
          </a:r>
          <a:r>
            <a:rPr lang="ko-KR" altLang="en-US" sz="2800" b="1" kern="1200" dirty="0" smtClean="0">
              <a:solidFill>
                <a:schemeClr val="tx1"/>
              </a:solidFill>
              <a:latin typeface="+mn-lt"/>
            </a:rPr>
            <a:t> 공격 모드</a:t>
          </a:r>
          <a:endParaRPr lang="ko-KR" altLang="en-US" sz="2800" b="1" kern="1200" dirty="0">
            <a:solidFill>
              <a:schemeClr val="tx1"/>
            </a:solidFill>
            <a:latin typeface="+mn-lt"/>
          </a:endParaRPr>
        </a:p>
      </dsp:txBody>
      <dsp:txXfrm>
        <a:off x="890779" y="26440"/>
        <a:ext cx="2916755" cy="829329"/>
      </dsp:txXfrm>
    </dsp:sp>
    <dsp:sp modelId="{01A2D2A4-6F71-44D3-B9A5-0471F359C3DA}">
      <dsp:nvSpPr>
        <dsp:cNvPr id="0" name=""/>
        <dsp:cNvSpPr/>
      </dsp:nvSpPr>
      <dsp:spPr>
        <a:xfrm rot="5400000">
          <a:off x="1890774" y="1300387"/>
          <a:ext cx="916764" cy="308326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300" kern="1200"/>
        </a:p>
      </dsp:txBody>
      <dsp:txXfrm>
        <a:off x="1983272" y="1362052"/>
        <a:ext cx="731768" cy="184996"/>
      </dsp:txXfrm>
    </dsp:sp>
    <dsp:sp modelId="{77BA7701-B8DA-4F93-B952-6E7D5631E882}">
      <dsp:nvSpPr>
        <dsp:cNvPr id="0" name=""/>
        <dsp:cNvSpPr/>
      </dsp:nvSpPr>
      <dsp:spPr>
        <a:xfrm>
          <a:off x="875953" y="2027528"/>
          <a:ext cx="2946406" cy="880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800" b="1" kern="1200" dirty="0" smtClean="0">
              <a:solidFill>
                <a:srgbClr val="7030A0"/>
              </a:solidFill>
              <a:latin typeface="+mn-lt"/>
            </a:rPr>
            <a:t>원거리</a:t>
          </a:r>
          <a:r>
            <a:rPr lang="ko-KR" altLang="en-US" sz="2800" b="1" kern="1200" dirty="0" smtClean="0">
              <a:solidFill>
                <a:schemeClr val="tx1"/>
              </a:solidFill>
              <a:latin typeface="+mn-lt"/>
            </a:rPr>
            <a:t> 공격 모드</a:t>
          </a:r>
          <a:endParaRPr lang="ko-KR" altLang="en-US" sz="2800" b="1" kern="1200" dirty="0">
            <a:solidFill>
              <a:schemeClr val="tx1"/>
            </a:solidFill>
            <a:latin typeface="+mn-lt"/>
          </a:endParaRPr>
        </a:p>
      </dsp:txBody>
      <dsp:txXfrm>
        <a:off x="901755" y="2053330"/>
        <a:ext cx="2894802" cy="829329"/>
      </dsp:txXfrm>
    </dsp:sp>
    <dsp:sp modelId="{B1F99B7F-9DCD-42AD-A514-3CB2826930CB}">
      <dsp:nvSpPr>
        <dsp:cNvPr id="0" name=""/>
        <dsp:cNvSpPr/>
      </dsp:nvSpPr>
      <dsp:spPr>
        <a:xfrm rot="16200000">
          <a:off x="1890774" y="1300387"/>
          <a:ext cx="916764" cy="308326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2"/>
        </a:solidFill>
        <a:ln w="19050" cap="rnd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300" kern="1200">
            <a:solidFill>
              <a:schemeClr val="accent1">
                <a:lumMod val="50000"/>
              </a:schemeClr>
            </a:solidFill>
          </a:endParaRPr>
        </a:p>
      </dsp:txBody>
      <dsp:txXfrm>
        <a:off x="1983272" y="1362052"/>
        <a:ext cx="731768" cy="184996"/>
      </dsp:txXfrm>
    </dsp:sp>
  </dsp:spTree>
</dsp:drawing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588DB-6AC2-498A-9189-F0183FAE0DCF}" type="datetimeFigureOut">
              <a:rPr lang="ko-KR" altLang="en-US" smtClean="0"/>
              <a:pPr/>
              <a:t>2016-12-28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8C989-1AB2-48D7-A8FA-EE2F9AE6A0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676A1F4-E06B-4D88-8B12-0D6839915390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B8BD56-67F2-4B5B-8A5A-E00EDACBD3B9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D997D8-A266-40C2-A2F2-850863E65648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갈매기형 수장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51F95E4-94E4-470E-B8D8-54F20DAFB925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5248F1-996E-4CED-B471-3BE0ED505CF7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8E3317C-634B-4448-9461-84DC819D7340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15BFA2D-F69E-45DD-BF2F-1A3123673966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>
            <a:extLst/>
          </a:lstStyle>
          <a:p>
            <a:fld id="{10769C95-6A1F-4848-9C7A-D0885DB0036A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F30780D-5F6C-49A4-B663-D97E614CBF84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955249" y="5001994"/>
            <a:ext cx="5069337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-71414" y="5785023"/>
            <a:ext cx="5069337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27BA84E-C08B-48FF-9EB8-5862D12084CF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876345-6BD8-4033-A496-26FBB67F8205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955249" y="5001994"/>
            <a:ext cx="5069337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-71414" y="5785023"/>
            <a:ext cx="5069337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939D343-D046-4DD6-916C-A4E0B0EEEF6F}" type="datetime1">
              <a:rPr lang="en-US" altLang="ko-KR" smtClean="0"/>
              <a:pPr/>
              <a:t>12/28/2016</a:t>
            </a:fld>
            <a:endParaRPr lang="en-US" dirty="0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gglehd.com/zbxe/13191771" TargetMode="External"/><Relationship Id="rId7" Type="http://schemas.openxmlformats.org/officeDocument/2006/relationships/hyperlink" Target="http://zzang1847.tistory.com/category/%ED%98%84%EB%8C%80%EC%9D%98%20%EA%B0%9C%EC%9D%B8%ED%99%94%EA%B8%B0/%EB%8F%8C%EA%B2%A9%EC%86%8C%EC%B4%9D%5bAR%5d" TargetMode="External"/><Relationship Id="rId2" Type="http://schemas.openxmlformats.org/officeDocument/2006/relationships/hyperlink" Target="http://post.naver.com/viewer/postView.nhn?volumeNo=5013328&amp;memberNo=9091277&amp;vType=VERTICA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emil.chosun.com/site/data/html_dir/2011/05/18/2011051800855.html" TargetMode="External"/><Relationship Id="rId5" Type="http://schemas.openxmlformats.org/officeDocument/2006/relationships/hyperlink" Target="http://gameabout.com/mabinogi_bbs/2438699" TargetMode="External"/><Relationship Id="rId4" Type="http://schemas.openxmlformats.org/officeDocument/2006/relationships/hyperlink" Target="http://gameabout.com/review2/3515248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417378" y="1721362"/>
            <a:ext cx="5184801" cy="1646302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Predators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492955" y="3685527"/>
            <a:ext cx="7766936" cy="1295524"/>
          </a:xfrm>
        </p:spPr>
        <p:txBody>
          <a:bodyPr>
            <a:normAutofit/>
          </a:bodyPr>
          <a:lstStyle/>
          <a:p>
            <a:r>
              <a:rPr lang="en-US" altLang="ko-KR" sz="2000" b="1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2012180036 </a:t>
            </a:r>
            <a:r>
              <a:rPr lang="ko-KR" altLang="en-US" sz="2000" b="1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이찬규</a:t>
            </a:r>
            <a:endParaRPr lang="en-US" altLang="ko-KR" sz="2000" b="1" dirty="0" smtClean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000" b="1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2012182001 </a:t>
            </a:r>
            <a:r>
              <a:rPr lang="ko-KR" altLang="en-US" sz="2000" b="1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강동훈</a:t>
            </a:r>
            <a:endParaRPr lang="en-US" altLang="ko-KR" sz="2000" b="1" dirty="0" smtClean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000" b="1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2012182022 </a:t>
            </a:r>
            <a:r>
              <a:rPr lang="ko-KR" altLang="en-US" sz="2000" b="1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오은석</a:t>
            </a:r>
            <a:endParaRPr lang="ko-KR" altLang="en-US" sz="2000" b="1" dirty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4447632"/>
              </p:ext>
            </p:extLst>
          </p:nvPr>
        </p:nvGraphicFramePr>
        <p:xfrm>
          <a:off x="962280" y="5470340"/>
          <a:ext cx="3294409" cy="1203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4409"/>
              </a:tblGrid>
              <a:tr h="6018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>
                          <a:solidFill>
                            <a:schemeClr val="tx2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지도교수 서명</a:t>
                      </a:r>
                      <a:endParaRPr lang="ko-KR" altLang="en-US" sz="3200" dirty="0">
                        <a:solidFill>
                          <a:schemeClr val="tx2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</a:tr>
              <a:tr h="60186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9155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427139" y="1933903"/>
            <a:ext cx="3641271" cy="362606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ko-KR" altLang="en-US" sz="2800" b="1" dirty="0" smtClean="0">
                <a:latin typeface="HY헤드라인M" pitchFamily="18" charset="-127"/>
                <a:ea typeface="HY헤드라인M" pitchFamily="18" charset="-127"/>
              </a:rPr>
              <a:t>게임 소개</a:t>
            </a:r>
            <a:endParaRPr lang="en-US" altLang="ko-KR" sz="2800" b="1" dirty="0" smtClean="0">
              <a:latin typeface="HY헤드라인M" pitchFamily="18" charset="-127"/>
              <a:ea typeface="HY헤드라인M" pitchFamily="18" charset="-127"/>
            </a:endParaRPr>
          </a:p>
          <a:p>
            <a:pPr>
              <a:buNone/>
            </a:pP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-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요약정보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pPr>
              <a:buNone/>
            </a:pP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-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기획의도와 비교 분석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pPr>
              <a:buNone/>
            </a:pP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-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게임소개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pPr>
              <a:buNone/>
            </a:pP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-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게임 정보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pPr lvl="1">
              <a:buFont typeface="Wingdings" pitchFamily="2" charset="2"/>
              <a:buChar char="§"/>
            </a:pPr>
            <a:r>
              <a:rPr lang="ko-KR" altLang="en-US" sz="2000" b="1" dirty="0" err="1" smtClean="0">
                <a:latin typeface="HY헤드라인M" pitchFamily="18" charset="-127"/>
                <a:ea typeface="HY헤드라인M" pitchFamily="18" charset="-127"/>
              </a:rPr>
              <a:t>맵</a:t>
            </a:r>
            <a:endParaRPr lang="en-US" altLang="ko-KR" sz="2000" b="1" dirty="0" smtClean="0">
              <a:latin typeface="HY헤드라인M" pitchFamily="18" charset="-127"/>
              <a:ea typeface="HY헤드라인M" pitchFamily="18" charset="-127"/>
            </a:endParaRPr>
          </a:p>
          <a:p>
            <a:pPr lvl="1">
              <a:buFont typeface="Wingdings" pitchFamily="2" charset="2"/>
              <a:buChar char="§"/>
            </a:pP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플레이어</a:t>
            </a:r>
            <a:endParaRPr lang="en-US" altLang="ko-KR" sz="2000" b="1" dirty="0" smtClean="0">
              <a:latin typeface="HY헤드라인M" pitchFamily="18" charset="-127"/>
              <a:ea typeface="HY헤드라인M" pitchFamily="18" charset="-127"/>
            </a:endParaRPr>
          </a:p>
          <a:p>
            <a:pPr>
              <a:buNone/>
            </a:pP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-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게임 시스템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400" b="1" dirty="0" smtClean="0"/>
          </a:p>
          <a:p>
            <a:pPr>
              <a:buFont typeface="Wingdings" pitchFamily="2" charset="2"/>
              <a:buChar char="Ø"/>
            </a:pPr>
            <a:endParaRPr lang="ko-KR" altLang="en-US" sz="2400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2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목 차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41671" y="1845129"/>
            <a:ext cx="367392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ko-KR" altLang="en-US" sz="2800" b="1" dirty="0" smtClean="0">
                <a:latin typeface="HY헤드라인M" pitchFamily="18" charset="-127"/>
                <a:ea typeface="HY헤드라인M" pitchFamily="18" charset="-127"/>
              </a:rPr>
              <a:t>졸업연구</a:t>
            </a:r>
            <a:endParaRPr lang="en-US" altLang="ko-KR" sz="28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-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구현목표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-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역할분담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-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연구목표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-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일정</a:t>
            </a:r>
            <a:endParaRPr lang="ko-KR" altLang="en-US" sz="2400" dirty="0"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8265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8786" y="211575"/>
            <a:ext cx="6190593" cy="1143000"/>
          </a:xfrm>
        </p:spPr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게임 요약 정보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3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98179" y="1261241"/>
            <a:ext cx="9627476" cy="746234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213945" y="2149367"/>
            <a:ext cx="9627476" cy="746234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387363" y="1313792"/>
            <a:ext cx="32266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 smtClean="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rPr>
              <a:t>T</a:t>
            </a:r>
            <a:r>
              <a:rPr lang="en-US" altLang="ko-KR" sz="2300" b="1" dirty="0" smtClean="0">
                <a:latin typeface="HY헤드라인M" pitchFamily="18" charset="-127"/>
                <a:ea typeface="HY헤드라인M" pitchFamily="18" charset="-127"/>
              </a:rPr>
              <a:t>itle</a:t>
            </a:r>
          </a:p>
          <a:p>
            <a:pPr lvl="1"/>
            <a:r>
              <a:rPr lang="en-US" altLang="ko-KR" b="1" dirty="0" smtClean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Predators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3131" y="2191407"/>
            <a:ext cx="23017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 smtClean="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rPr>
              <a:t>G</a:t>
            </a:r>
            <a:r>
              <a:rPr lang="en-US" altLang="ko-KR" sz="2300" b="1" dirty="0" smtClean="0">
                <a:latin typeface="HY헤드라인M" pitchFamily="18" charset="-127"/>
                <a:ea typeface="HY헤드라인M" pitchFamily="18" charset="-127"/>
              </a:rPr>
              <a:t>enre</a:t>
            </a:r>
            <a:r>
              <a:rPr lang="ko-KR" altLang="en-US" sz="2300" b="1" dirty="0" smtClean="0">
                <a:latin typeface="HY헤드라인M" pitchFamily="18" charset="-127"/>
                <a:ea typeface="HY헤드라인M" pitchFamily="18" charset="-127"/>
              </a:rPr>
              <a:t> </a:t>
            </a:r>
            <a:endParaRPr lang="en-US" altLang="ko-KR" sz="2300" b="1" dirty="0" smtClean="0">
              <a:latin typeface="HY헤드라인M" pitchFamily="18" charset="-127"/>
              <a:ea typeface="HY헤드라인M" pitchFamily="18" charset="-127"/>
            </a:endParaRPr>
          </a:p>
          <a:p>
            <a:pPr lvl="1"/>
            <a:r>
              <a:rPr lang="en-US" altLang="ko-KR" b="1" dirty="0" smtClean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FPS</a:t>
            </a:r>
            <a:endParaRPr lang="en-US" altLang="ko-KR" b="1" dirty="0" smtClean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29405" y="3100552"/>
            <a:ext cx="632722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 smtClean="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rPr>
              <a:t>P</a:t>
            </a:r>
            <a:r>
              <a:rPr lang="en-US" altLang="ko-KR" sz="2300" b="1" dirty="0" smtClean="0">
                <a:latin typeface="HY헤드라인M" pitchFamily="18" charset="-127"/>
                <a:ea typeface="HY헤드라인M" pitchFamily="18" charset="-127"/>
              </a:rPr>
              <a:t>latform &amp; </a:t>
            </a:r>
            <a:r>
              <a:rPr lang="en-US" altLang="ko-KR" sz="2300" b="1" dirty="0" smtClean="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rPr>
              <a:t>E</a:t>
            </a:r>
            <a:r>
              <a:rPr lang="en-US" altLang="ko-KR" sz="2300" b="1" dirty="0" smtClean="0">
                <a:latin typeface="HY헤드라인M" pitchFamily="18" charset="-127"/>
                <a:ea typeface="HY헤드라인M" pitchFamily="18" charset="-127"/>
              </a:rPr>
              <a:t>nvironment</a:t>
            </a:r>
          </a:p>
          <a:p>
            <a:pPr lvl="1"/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PC(Window 10, Direct 11 </a:t>
            </a:r>
            <a:r>
              <a:rPr lang="ko-KR" altLang="en-US" sz="1600" b="1" dirty="0" smtClean="0">
                <a:latin typeface="HY헤드라인M" pitchFamily="18" charset="-127"/>
                <a:ea typeface="HY헤드라인M" pitchFamily="18" charset="-127"/>
              </a:rPr>
              <a:t>이상 지원 가능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425" y="4078013"/>
            <a:ext cx="704193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 smtClean="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rPr>
              <a:t>U</a:t>
            </a:r>
            <a:r>
              <a:rPr lang="en-US" altLang="ko-KR" sz="2300" b="1" dirty="0" smtClean="0">
                <a:latin typeface="HY헤드라인M" pitchFamily="18" charset="-127"/>
                <a:ea typeface="HY헤드라인M" pitchFamily="18" charset="-127"/>
              </a:rPr>
              <a:t>ser</a:t>
            </a:r>
            <a:r>
              <a:rPr lang="ko-KR" altLang="en-US" sz="2300" b="1" dirty="0" smtClean="0">
                <a:latin typeface="HY헤드라인M" pitchFamily="18" charset="-127"/>
                <a:ea typeface="HY헤드라인M" pitchFamily="18" charset="-127"/>
              </a:rPr>
              <a:t> </a:t>
            </a:r>
            <a:endParaRPr lang="en-US" altLang="ko-KR" sz="2300" b="1" dirty="0" smtClean="0">
              <a:latin typeface="HY헤드라인M" pitchFamily="18" charset="-127"/>
              <a:ea typeface="HY헤드라인M" pitchFamily="18" charset="-127"/>
            </a:endParaRPr>
          </a:p>
          <a:p>
            <a:pPr lvl="1"/>
            <a:r>
              <a:rPr lang="ko-KR" altLang="en-US" sz="1600" b="1" dirty="0" smtClean="0">
                <a:latin typeface="HY헤드라인M" pitchFamily="18" charset="-127"/>
                <a:ea typeface="HY헤드라인M" pitchFamily="18" charset="-127"/>
              </a:rPr>
              <a:t>최소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 1:1(2</a:t>
            </a:r>
            <a:r>
              <a:rPr lang="ko-KR" altLang="en-US" sz="1600" b="1" dirty="0" smtClean="0">
                <a:latin typeface="HY헤드라인M" pitchFamily="18" charset="-127"/>
                <a:ea typeface="HY헤드라인M" pitchFamily="18" charset="-127"/>
              </a:rPr>
              <a:t>인 대전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) </a:t>
            </a:r>
            <a:r>
              <a:rPr lang="ko-KR" altLang="en-US" sz="1600" b="1" dirty="0" smtClean="0">
                <a:latin typeface="HY헤드라인M" pitchFamily="18" charset="-127"/>
                <a:ea typeface="HY헤드라인M" pitchFamily="18" charset="-127"/>
              </a:rPr>
              <a:t>부터 최대 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2:2 (4</a:t>
            </a:r>
            <a:r>
              <a:rPr lang="ko-KR" altLang="en-US" sz="1600" b="1" dirty="0" smtClean="0">
                <a:latin typeface="HY헤드라인M" pitchFamily="18" charset="-127"/>
                <a:ea typeface="HY헤드라인M" pitchFamily="18" charset="-127"/>
              </a:rPr>
              <a:t>인 대전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1600" b="1" dirty="0" smtClean="0">
                <a:latin typeface="HY헤드라인M" pitchFamily="18" charset="-127"/>
                <a:ea typeface="HY헤드라인M" pitchFamily="18" charset="-127"/>
              </a:rPr>
              <a:t> 까지 가능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8897" y="5018689"/>
            <a:ext cx="91124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 smtClean="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rPr>
              <a:t>G</a:t>
            </a:r>
            <a:r>
              <a:rPr lang="en-US" altLang="ko-KR" sz="2300" b="1" dirty="0" smtClean="0">
                <a:latin typeface="HY헤드라인M" pitchFamily="18" charset="-127"/>
                <a:ea typeface="HY헤드라인M" pitchFamily="18" charset="-127"/>
              </a:rPr>
              <a:t>ame play</a:t>
            </a:r>
          </a:p>
          <a:p>
            <a:r>
              <a:rPr lang="en-US" altLang="ko-KR" sz="2300" b="1" dirty="0" smtClean="0">
                <a:latin typeface="HY헤드라인M" pitchFamily="18" charset="-127"/>
                <a:ea typeface="HY헤드라인M" pitchFamily="18" charset="-127"/>
              </a:rPr>
              <a:t>	</a:t>
            </a:r>
            <a:r>
              <a:rPr lang="ko-KR" altLang="en-US" sz="1600" b="1" dirty="0" smtClean="0">
                <a:latin typeface="HY헤드라인M" pitchFamily="18" charset="-127"/>
                <a:ea typeface="HY헤드라인M" pitchFamily="18" charset="-127"/>
              </a:rPr>
              <a:t>플레이어는 세 명의 캐릭터 중 하나를 선택하여 랜덤으로 선택된 </a:t>
            </a:r>
            <a:r>
              <a:rPr lang="ko-KR" altLang="en-US" sz="1600" b="1" dirty="0" err="1" smtClean="0">
                <a:latin typeface="HY헤드라인M" pitchFamily="18" charset="-127"/>
                <a:ea typeface="HY헤드라인M" pitchFamily="18" charset="-127"/>
              </a:rPr>
              <a:t>맵</a:t>
            </a:r>
            <a:r>
              <a:rPr lang="ko-KR" altLang="en-US" sz="1600" b="1" dirty="0" smtClean="0">
                <a:latin typeface="HY헤드라인M" pitchFamily="18" charset="-127"/>
                <a:ea typeface="HY헤드라인M" pitchFamily="18" charset="-127"/>
              </a:rPr>
              <a:t> 에서 플레이를 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	</a:t>
            </a:r>
            <a:r>
              <a:rPr lang="ko-KR" altLang="en-US" sz="1600" b="1" dirty="0" smtClean="0">
                <a:latin typeface="HY헤드라인M" pitchFamily="18" charset="-127"/>
                <a:ea typeface="HY헤드라인M" pitchFamily="18" charset="-127"/>
              </a:rPr>
              <a:t>한다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. </a:t>
            </a:r>
          </a:p>
          <a:p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	</a:t>
            </a:r>
            <a:r>
              <a:rPr lang="ko-KR" altLang="en-US" sz="1600" b="1" dirty="0" smtClean="0">
                <a:latin typeface="HY헤드라인M" pitchFamily="18" charset="-127"/>
                <a:ea typeface="HY헤드라인M" pitchFamily="18" charset="-127"/>
              </a:rPr>
              <a:t>특정한 위치에 생성되는 왕관을 제한시간 동안 차지를 한다</a:t>
            </a:r>
            <a:r>
              <a:rPr lang="en-US" altLang="ko-KR" sz="1600" b="1" dirty="0" smtClean="0">
                <a:latin typeface="HY헤드라인M" pitchFamily="18" charset="-127"/>
                <a:ea typeface="HY헤드라인M" pitchFamily="18" charset="-127"/>
              </a:rPr>
              <a:t>.</a:t>
            </a:r>
            <a:endParaRPr lang="en-US" altLang="ko-KR" sz="1600" b="1" dirty="0" smtClean="0">
              <a:ln>
                <a:solidFill>
                  <a:schemeClr val="bg1"/>
                </a:solidFill>
              </a:ln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219200" y="3016469"/>
            <a:ext cx="9627476" cy="914399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198180" y="4056994"/>
            <a:ext cx="9627476" cy="861847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203435" y="5029200"/>
            <a:ext cx="9627476" cy="1150883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8525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발매된 이후로도 계속 </a:t>
            </a:r>
            <a:r>
              <a:rPr lang="ko-KR" altLang="en-US" dirty="0" smtClean="0"/>
              <a:t>꾸</a:t>
            </a:r>
            <a:r>
              <a:rPr lang="ko-KR" altLang="en-US" dirty="0" smtClean="0"/>
              <a:t>준히 인기를 얻고 있는 </a:t>
            </a:r>
            <a:r>
              <a:rPr lang="en-US" altLang="ko-KR" dirty="0" smtClean="0"/>
              <a:t>FPS </a:t>
            </a:r>
            <a:r>
              <a:rPr lang="ko-KR" altLang="en-US" dirty="0" smtClean="0"/>
              <a:t>장르를 </a:t>
            </a:r>
            <a:r>
              <a:rPr lang="en-US" altLang="ko-KR" dirty="0" smtClean="0"/>
              <a:t>Direct 11</a:t>
            </a:r>
            <a:r>
              <a:rPr lang="ko-KR" altLang="en-US" dirty="0" smtClean="0"/>
              <a:t>을 이용하여 제작하고자 함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기획의도</a:t>
            </a:r>
            <a:endParaRPr lang="ko-KR" altLang="en-US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1028" name="Picture 4" descr="C:\Users\user\Desktop\예시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3514" y="2722179"/>
            <a:ext cx="4433294" cy="2493728"/>
          </a:xfrm>
          <a:prstGeom prst="rect">
            <a:avLst/>
          </a:prstGeom>
          <a:noFill/>
        </p:spPr>
      </p:pic>
      <p:pic>
        <p:nvPicPr>
          <p:cNvPr id="1029" name="Picture 5" descr="C:\Users\user\Desktop\예시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23337" y="3762705"/>
            <a:ext cx="4424857" cy="25224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-</a:t>
            </a:r>
            <a:r>
              <a:rPr lang="ko-KR" altLang="en-US" dirty="0" smtClean="0"/>
              <a:t>타 게임 과의 비교 분석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비교게임 </a:t>
            </a:r>
            <a:r>
              <a:rPr lang="en-US" altLang="ko-KR" dirty="0" smtClean="0"/>
              <a:t>-</a:t>
            </a:r>
            <a:r>
              <a:rPr lang="ko-KR" altLang="en-US" dirty="0" err="1" smtClean="0"/>
              <a:t>오버워치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기획의도</a:t>
            </a:r>
            <a:endParaRPr lang="ko-KR" altLang="en-US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7" name="Picture 3" descr="C:\Users\user\Desktop\장르 비교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6835" y="2334987"/>
            <a:ext cx="4090965" cy="3489452"/>
          </a:xfrm>
          <a:prstGeom prst="rect">
            <a:avLst/>
          </a:prstGeom>
          <a:noFill/>
        </p:spPr>
      </p:pic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551714" y="1617738"/>
          <a:ext cx="6143172" cy="3537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1586"/>
                <a:gridCol w="3071586"/>
              </a:tblGrid>
              <a:tr h="4723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오버워치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predators</a:t>
                      </a:r>
                      <a:endParaRPr lang="ko-KR" altLang="en-US" dirty="0"/>
                    </a:p>
                  </a:txBody>
                  <a:tcPr/>
                </a:tc>
              </a:tr>
              <a:tr h="30651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장르</a:t>
                      </a:r>
                      <a:r>
                        <a:rPr lang="en-US" altLang="ko-KR" dirty="0" smtClean="0"/>
                        <a:t>:</a:t>
                      </a:r>
                    </a:p>
                    <a:p>
                      <a:pPr latinLnBrk="1"/>
                      <a:r>
                        <a:rPr lang="en-US" altLang="ko-KR" dirty="0" smtClean="0"/>
                        <a:t> fps</a:t>
                      </a:r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주 목적</a:t>
                      </a:r>
                      <a:r>
                        <a:rPr lang="en-US" altLang="ko-KR" dirty="0" smtClean="0"/>
                        <a:t>:</a:t>
                      </a:r>
                    </a:p>
                    <a:p>
                      <a:pPr latinLnBrk="1"/>
                      <a:r>
                        <a:rPr lang="ko-KR" altLang="en-US" dirty="0" smtClean="0"/>
                        <a:t>적을 섬멸하며 주어진 시간 안에 플레이 목표 달성</a:t>
                      </a:r>
                      <a:endParaRPr lang="en-US" altLang="ko-KR" dirty="0" smtClean="0"/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특성</a:t>
                      </a:r>
                      <a:r>
                        <a:rPr lang="en-US" altLang="ko-KR" dirty="0" smtClean="0"/>
                        <a:t>:</a:t>
                      </a:r>
                    </a:p>
                    <a:p>
                      <a:pPr latinLnBrk="1"/>
                      <a:r>
                        <a:rPr lang="ko-KR" altLang="en-US" dirty="0" smtClean="0"/>
                        <a:t>캐릭터가 가지고 있는 고유한 능력을 사용한 플레이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-</a:t>
                      </a:r>
                      <a:endParaRPr lang="en-US" altLang="ko-KR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28672" y="1489343"/>
            <a:ext cx="7247465" cy="3880773"/>
          </a:xfrm>
        </p:spPr>
        <p:txBody>
          <a:bodyPr>
            <a:normAutofit/>
          </a:bodyPr>
          <a:lstStyle/>
          <a:p>
            <a:r>
              <a:rPr lang="ko-KR" altLang="en-US" sz="2800" b="1" dirty="0" err="1" smtClean="0">
                <a:latin typeface="HY헤드라인M" pitchFamily="18" charset="-127"/>
                <a:ea typeface="HY헤드라인M" pitchFamily="18" charset="-127"/>
              </a:rPr>
              <a:t>맵</a:t>
            </a:r>
            <a:endParaRPr lang="en-US" altLang="ko-KR" sz="28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400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크기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: 150 x 150 (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단위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: m)</a:t>
            </a:r>
          </a:p>
          <a:p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3DMAX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와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ZBRUSH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를 이용한 제작</a:t>
            </a:r>
            <a:endParaRPr lang="en-US" altLang="ko-KR" sz="2400" b="1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숲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, 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도시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시가지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장애물이 있는 경기장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콜로세움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)   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30015" y="337700"/>
            <a:ext cx="6505903" cy="1143000"/>
          </a:xfrm>
        </p:spPr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게임 소개 및 특징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6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0623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39182" y="1371460"/>
            <a:ext cx="7983190" cy="3880773"/>
          </a:xfrm>
        </p:spPr>
        <p:txBody>
          <a:bodyPr>
            <a:normAutofit/>
          </a:bodyPr>
          <a:lstStyle/>
          <a:p>
            <a:r>
              <a:rPr lang="ko-KR" altLang="en-US" sz="2800" b="1" dirty="0" smtClean="0">
                <a:latin typeface="HY헤드라인M" pitchFamily="18" charset="-127"/>
                <a:ea typeface="HY헤드라인M" pitchFamily="18" charset="-127"/>
              </a:rPr>
              <a:t>플레이어</a:t>
            </a:r>
            <a:endParaRPr lang="en-US" altLang="ko-KR" sz="28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8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플레이가 고를 수 있는 캐릭터 종류는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3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가지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pPr lvl="1"/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-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사마귀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부족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풍뎅이 부족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말벌 부족 전사</a:t>
            </a:r>
            <a:endParaRPr lang="en-US" altLang="ko-KR" sz="20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무기는 캐릭터 별로 기본 무기를 장착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이동속도는 걷기는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2m/s,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뛰기는 캐릭터 별로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5-7m/s</a:t>
            </a:r>
          </a:p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상태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대기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뛰기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점프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공격 등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6952" y="295659"/>
            <a:ext cx="6495393" cy="1143000"/>
          </a:xfrm>
        </p:spPr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게임 소개 및 특징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7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7908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/>
          <p:cNvSpPr>
            <a:spLocks noGrp="1"/>
          </p:cNvSpPr>
          <p:nvPr>
            <p:ph idx="1"/>
          </p:nvPr>
        </p:nvSpPr>
        <p:spPr>
          <a:xfrm>
            <a:off x="1244892" y="1493321"/>
            <a:ext cx="7972680" cy="4558551"/>
          </a:xfrm>
        </p:spPr>
        <p:txBody>
          <a:bodyPr>
            <a:normAutofit/>
          </a:bodyPr>
          <a:lstStyle/>
          <a:p>
            <a:r>
              <a:rPr lang="en-US" altLang="ko-KR" sz="2800" b="1" dirty="0" smtClean="0">
                <a:latin typeface="HY헤드라인M" pitchFamily="18" charset="-127"/>
                <a:ea typeface="HY헤드라인M" pitchFamily="18" charset="-127"/>
              </a:rPr>
              <a:t>UI</a:t>
            </a:r>
            <a:endParaRPr lang="en-US" altLang="ko-KR" sz="2000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ko-KR" altLang="en-US" sz="20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621" y="306169"/>
            <a:ext cx="10972800" cy="1143000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게임 소개 및 특징</a:t>
            </a:r>
            <a:endParaRPr lang="ko-KR" altLang="en-US" b="0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1028" name="Picture 4" descr="C:\Users\user\Desktop\캡처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6661" y="1944415"/>
            <a:ext cx="7756635" cy="4191242"/>
          </a:xfrm>
          <a:prstGeom prst="rect">
            <a:avLst/>
          </a:prstGeom>
          <a:noFill/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8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594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게임 방법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8" name="순서도: 판단 7"/>
          <p:cNvSpPr/>
          <p:nvPr/>
        </p:nvSpPr>
        <p:spPr>
          <a:xfrm>
            <a:off x="1681278" y="3206011"/>
            <a:ext cx="2047741" cy="878872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</a:rPr>
              <a:t>게임시작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순서도: 처리 8"/>
          <p:cNvSpPr/>
          <p:nvPr/>
        </p:nvSpPr>
        <p:spPr>
          <a:xfrm>
            <a:off x="1988669" y="1511752"/>
            <a:ext cx="1390918" cy="605307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</a:rPr>
              <a:t>캐릭터 선택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>
            <a:endCxn id="9" idx="2"/>
          </p:cNvCxnSpPr>
          <p:nvPr/>
        </p:nvCxnSpPr>
        <p:spPr>
          <a:xfrm rot="16200000" flipV="1">
            <a:off x="2150161" y="2651026"/>
            <a:ext cx="1088954" cy="210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형 설명선 12"/>
          <p:cNvSpPr/>
          <p:nvPr/>
        </p:nvSpPr>
        <p:spPr>
          <a:xfrm>
            <a:off x="2253079" y="2888313"/>
            <a:ext cx="866104" cy="392011"/>
          </a:xfrm>
          <a:prstGeom prst="wedgeEllipse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Yes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타원형 설명선 14"/>
          <p:cNvSpPr/>
          <p:nvPr/>
        </p:nvSpPr>
        <p:spPr>
          <a:xfrm>
            <a:off x="2270698" y="4022499"/>
            <a:ext cx="866104" cy="392011"/>
          </a:xfrm>
          <a:prstGeom prst="wedgeEllipse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No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순서도: 처리 15"/>
          <p:cNvSpPr/>
          <p:nvPr/>
        </p:nvSpPr>
        <p:spPr>
          <a:xfrm>
            <a:off x="2054660" y="5315391"/>
            <a:ext cx="1390918" cy="605307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</a:rPr>
              <a:t>게임 종료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/>
          <p:cNvCxnSpPr>
            <a:stCxn id="15" idx="4"/>
          </p:cNvCxnSpPr>
          <p:nvPr/>
        </p:nvCxnSpPr>
        <p:spPr>
          <a:xfrm rot="5400000">
            <a:off x="2277472" y="4835272"/>
            <a:ext cx="847041" cy="55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9" idx="3"/>
          </p:cNvCxnSpPr>
          <p:nvPr/>
        </p:nvCxnSpPr>
        <p:spPr>
          <a:xfrm flipV="1">
            <a:off x="3379587" y="1814405"/>
            <a:ext cx="120417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순서도: 처리 20"/>
          <p:cNvSpPr/>
          <p:nvPr/>
        </p:nvSpPr>
        <p:spPr>
          <a:xfrm>
            <a:off x="4604783" y="1477481"/>
            <a:ext cx="1390918" cy="605307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</a:rPr>
              <a:t>게임 플레이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/>
          <p:cNvCxnSpPr>
            <a:stCxn id="21" idx="2"/>
          </p:cNvCxnSpPr>
          <p:nvPr/>
        </p:nvCxnSpPr>
        <p:spPr>
          <a:xfrm rot="5400000">
            <a:off x="4752180" y="2630850"/>
            <a:ext cx="1096125" cy="15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순서도: 처리 25"/>
          <p:cNvSpPr/>
          <p:nvPr/>
        </p:nvSpPr>
        <p:spPr>
          <a:xfrm>
            <a:off x="4666564" y="4530371"/>
            <a:ext cx="1390918" cy="605307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</a:rPr>
              <a:t>제한 시간 내 왕관 유지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순서도: 판단 26"/>
          <p:cNvSpPr/>
          <p:nvPr/>
        </p:nvSpPr>
        <p:spPr>
          <a:xfrm>
            <a:off x="4276371" y="3158592"/>
            <a:ext cx="2047741" cy="878872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</a:rPr>
              <a:t>왕관 차지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5284974" y="4150447"/>
            <a:ext cx="7634" cy="364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endCxn id="21" idx="3"/>
          </p:cNvCxnSpPr>
          <p:nvPr/>
        </p:nvCxnSpPr>
        <p:spPr>
          <a:xfrm rot="16200000" flipV="1">
            <a:off x="5920464" y="1855372"/>
            <a:ext cx="2276858" cy="21263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형 설명선 35"/>
          <p:cNvSpPr/>
          <p:nvPr/>
        </p:nvSpPr>
        <p:spPr>
          <a:xfrm>
            <a:off x="4885459" y="3838379"/>
            <a:ext cx="866104" cy="392011"/>
          </a:xfrm>
          <a:prstGeom prst="wedgeEllipse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Yes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8" name="타원형 설명선 37"/>
          <p:cNvSpPr/>
          <p:nvPr/>
        </p:nvSpPr>
        <p:spPr>
          <a:xfrm>
            <a:off x="7731449" y="3995997"/>
            <a:ext cx="866104" cy="392011"/>
          </a:xfrm>
          <a:prstGeom prst="wedgeEllipse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No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/>
          <p:cNvCxnSpPr>
            <a:stCxn id="26" idx="3"/>
          </p:cNvCxnSpPr>
          <p:nvPr/>
        </p:nvCxnSpPr>
        <p:spPr>
          <a:xfrm>
            <a:off x="6057482" y="4833025"/>
            <a:ext cx="13053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순서도: 판단 41"/>
          <p:cNvSpPr/>
          <p:nvPr/>
        </p:nvSpPr>
        <p:spPr>
          <a:xfrm>
            <a:off x="7361525" y="4362057"/>
            <a:ext cx="1539028" cy="878872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</a:rPr>
              <a:t>게임 승리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47" name="꺾인 연결선 46"/>
          <p:cNvCxnSpPr/>
          <p:nvPr/>
        </p:nvCxnSpPr>
        <p:spPr>
          <a:xfrm rot="16200000" flipV="1">
            <a:off x="5053066" y="2911368"/>
            <a:ext cx="2301763" cy="4309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형 설명선 48"/>
          <p:cNvSpPr/>
          <p:nvPr/>
        </p:nvSpPr>
        <p:spPr>
          <a:xfrm>
            <a:off x="5902879" y="4733015"/>
            <a:ext cx="866104" cy="392011"/>
          </a:xfrm>
          <a:prstGeom prst="wedgeEllipse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Yes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3" name="타원형 설명선 42"/>
          <p:cNvSpPr/>
          <p:nvPr/>
        </p:nvSpPr>
        <p:spPr>
          <a:xfrm>
            <a:off x="5855354" y="4232479"/>
            <a:ext cx="866104" cy="392011"/>
          </a:xfrm>
          <a:prstGeom prst="wedgeEllipse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No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슬라이드 번호 개체 틀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9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1370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28161" y="1595496"/>
            <a:ext cx="8940195" cy="3880773"/>
          </a:xfrm>
        </p:spPr>
        <p:txBody>
          <a:bodyPr/>
          <a:lstStyle/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키보드와 마우스를 이용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이동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키보드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(W A S D)</a:t>
            </a:r>
            <a:endParaRPr lang="en-US" altLang="ko-KR" sz="2400" b="1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일반 공격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마우스 좌 클릭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특수 공격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 마우스 우 클릭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000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</a:rPr>
              <a:t>게임 방법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050" name="Picture 2" descr="C:\Users\user\Desktop\다운로드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7930" y="1718059"/>
            <a:ext cx="4288221" cy="3305886"/>
          </a:xfrm>
          <a:prstGeom prst="rect">
            <a:avLst/>
          </a:prstGeom>
          <a:noFill/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10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933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29710" y="1323674"/>
            <a:ext cx="5349766" cy="4525963"/>
          </a:xfrm>
        </p:spPr>
        <p:txBody>
          <a:bodyPr>
            <a:normAutofit/>
          </a:bodyPr>
          <a:lstStyle/>
          <a:p>
            <a:r>
              <a:rPr lang="en-US" altLang="ko-KR" sz="3200" b="1" dirty="0" smtClean="0">
                <a:latin typeface="HY헤드라인M" pitchFamily="18" charset="-127"/>
                <a:ea typeface="HY헤드라인M" pitchFamily="18" charset="-127"/>
              </a:rPr>
              <a:t>Visual Studio 2015</a:t>
            </a:r>
          </a:p>
          <a:p>
            <a:r>
              <a:rPr lang="en-US" altLang="ko-KR" sz="3200" b="1" dirty="0" smtClean="0">
                <a:latin typeface="HY헤드라인M" pitchFamily="18" charset="-127"/>
                <a:ea typeface="HY헤드라인M" pitchFamily="18" charset="-127"/>
              </a:rPr>
              <a:t>DX11 SDK</a:t>
            </a:r>
          </a:p>
          <a:p>
            <a:r>
              <a:rPr lang="en-US" altLang="ko-KR" sz="3200" b="1" dirty="0" smtClean="0">
                <a:latin typeface="HY헤드라인M" pitchFamily="18" charset="-127"/>
                <a:ea typeface="HY헤드라인M" pitchFamily="18" charset="-127"/>
              </a:rPr>
              <a:t>3dsMax 2015</a:t>
            </a:r>
          </a:p>
          <a:p>
            <a:r>
              <a:rPr lang="en-US" altLang="ko-KR" sz="3200" b="1" dirty="0" err="1" smtClean="0">
                <a:latin typeface="HY헤드라인M" pitchFamily="18" charset="-127"/>
                <a:ea typeface="HY헤드라인M" pitchFamily="18" charset="-127"/>
              </a:rPr>
              <a:t>zbrush</a:t>
            </a:r>
            <a:endParaRPr lang="en-US" altLang="ko-KR" sz="32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3200" b="1" dirty="0" err="1" smtClean="0">
                <a:latin typeface="HY헤드라인M" pitchFamily="18" charset="-127"/>
                <a:ea typeface="HY헤드라인M" pitchFamily="18" charset="-127"/>
              </a:rPr>
              <a:t>PhotoShop</a:t>
            </a:r>
            <a:endParaRPr lang="en-US" altLang="ko-KR" sz="32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3200" b="1" dirty="0" err="1" smtClean="0">
                <a:latin typeface="HY헤드라인M" pitchFamily="18" charset="-127"/>
                <a:ea typeface="HY헤드라인M" pitchFamily="18" charset="-127"/>
              </a:rPr>
              <a:t>GitHub</a:t>
            </a:r>
            <a:endParaRPr lang="en-US" altLang="ko-KR" sz="3200" b="1" dirty="0" smtClean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8786" y="274638"/>
            <a:ext cx="3657600" cy="1143000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개발 환경</a:t>
            </a:r>
            <a:endParaRPr lang="ko-KR" altLang="en-US" b="0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424745" y="6407945"/>
            <a:ext cx="592631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11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788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6144" y="215235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dirty="0">
              <a:solidFill>
                <a:schemeClr val="tx2"/>
              </a:solidFill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6745" y="285148"/>
            <a:ext cx="7588469" cy="1143000"/>
          </a:xfrm>
        </p:spPr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기술적 요소</a:t>
            </a:r>
            <a:r>
              <a:rPr lang="en-US" altLang="ko-KR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클라이언트</a:t>
            </a:r>
            <a:r>
              <a:rPr lang="en-US" altLang="ko-KR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148617" y="1541658"/>
            <a:ext cx="883621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en-US" altLang="ko-KR" sz="2400" b="1" dirty="0" smtClean="0">
                <a:latin typeface="HY헤드라인M"/>
                <a:ea typeface="HY헤드라인M"/>
              </a:rPr>
              <a:t>OBJ</a:t>
            </a:r>
            <a:r>
              <a:rPr lang="ko-KR" altLang="en-US" sz="2400" b="1" dirty="0" smtClean="0">
                <a:latin typeface="HY헤드라인M"/>
                <a:ea typeface="HY헤드라인M"/>
              </a:rPr>
              <a:t>파일을 이용한 </a:t>
            </a:r>
            <a:r>
              <a:rPr lang="en-US" altLang="ko-KR" sz="2400" b="1" dirty="0" smtClean="0">
                <a:latin typeface="HY헤드라인M"/>
                <a:ea typeface="HY헤드라인M"/>
              </a:rPr>
              <a:t>DirectX11</a:t>
            </a:r>
            <a:r>
              <a:rPr lang="ko-KR" altLang="en-US" sz="2400" b="1" dirty="0" smtClean="0">
                <a:latin typeface="HY헤드라인M"/>
                <a:ea typeface="HY헤드라인M"/>
              </a:rPr>
              <a:t>에서의 </a:t>
            </a:r>
            <a:r>
              <a:rPr lang="en-US" altLang="ko-KR" sz="2400" b="1" dirty="0" smtClean="0">
                <a:latin typeface="HY헤드라인M"/>
                <a:ea typeface="HY헤드라인M"/>
              </a:rPr>
              <a:t>3D</a:t>
            </a:r>
            <a:r>
              <a:rPr lang="ko-KR" altLang="en-US" sz="2400" b="1" dirty="0" smtClean="0">
                <a:latin typeface="HY헤드라인M"/>
                <a:ea typeface="HY헤드라인M"/>
              </a:rPr>
              <a:t> 모델 및 애니메이션 </a:t>
            </a:r>
            <a:r>
              <a:rPr lang="ko-KR" altLang="en-US" sz="2400" b="1" dirty="0" err="1" smtClean="0">
                <a:latin typeface="HY헤드라인M"/>
                <a:ea typeface="HY헤드라인M"/>
              </a:rPr>
              <a:t>렌더링</a:t>
            </a:r>
            <a:endParaRPr lang="ko-KR" altLang="en-US" sz="2400" b="1" dirty="0" smtClean="0">
              <a:latin typeface="HY헤드라인M"/>
              <a:ea typeface="HY헤드라인M"/>
            </a:endParaRPr>
          </a:p>
          <a:p>
            <a:pPr lvl="0">
              <a:defRPr lang="ko-KR" altLang="en-US"/>
            </a:pPr>
            <a:endParaRPr lang="en-US" altLang="ko-KR" sz="2400" b="1" dirty="0" smtClean="0">
              <a:latin typeface="HY헤드라인M"/>
              <a:ea typeface="HY헤드라인M"/>
            </a:endParaRPr>
          </a:p>
          <a:p>
            <a:pPr lvl="0">
              <a:defRPr lang="ko-KR" altLang="en-US"/>
            </a:pPr>
            <a:r>
              <a:rPr lang="en-US" altLang="ko-KR" sz="2400" b="1" dirty="0" smtClean="0">
                <a:latin typeface="HY헤드라인M"/>
                <a:ea typeface="HY헤드라인M"/>
              </a:rPr>
              <a:t>FPS</a:t>
            </a:r>
            <a:r>
              <a:rPr lang="ko-KR" altLang="en-US" sz="2400" b="1" dirty="0" smtClean="0">
                <a:latin typeface="HY헤드라인M"/>
                <a:ea typeface="HY헤드라인M"/>
              </a:rPr>
              <a:t>게임에 필요한 각종 게임 오브젝트간의 충돌 체크 구현</a:t>
            </a:r>
          </a:p>
          <a:p>
            <a:endParaRPr lang="en-US" altLang="ko-KR" b="1" dirty="0" smtClean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414234" y="6407945"/>
            <a:ext cx="603142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12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6442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03702" y="1578229"/>
            <a:ext cx="9650007" cy="3880773"/>
          </a:xfrm>
        </p:spPr>
        <p:txBody>
          <a:bodyPr>
            <a:noAutofit/>
          </a:bodyPr>
          <a:lstStyle/>
          <a:p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IOCP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를 이용하여 클라이언트와 직접 연결하는 단일 서버로 구현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400" b="1" dirty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err="1" smtClean="0">
                <a:latin typeface="HY헤드라인M" pitchFamily="18" charset="-127"/>
                <a:ea typeface="HY헤드라인M" pitchFamily="18" charset="-127"/>
              </a:rPr>
              <a:t>데드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400" b="1" dirty="0" err="1" smtClean="0">
                <a:latin typeface="HY헤드라인M" pitchFamily="18" charset="-127"/>
                <a:ea typeface="HY헤드라인M" pitchFamily="18" charset="-127"/>
              </a:rPr>
              <a:t>레커닝을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 이용한 서버와 클라이언트의 동기화</a:t>
            </a:r>
            <a:endParaRPr lang="en-US" altLang="ko-KR" sz="2400" b="1" dirty="0">
              <a:latin typeface="HY헤드라인M" pitchFamily="18" charset="-127"/>
              <a:ea typeface="HY헤드라인M" pitchFamily="18" charset="-127"/>
            </a:endParaRPr>
          </a:p>
          <a:p>
            <a:pPr marL="457200" lvl="1" indent="0">
              <a:buNone/>
            </a:pP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서버에서의 공간분할을 이용한 충돌처리 구현</a:t>
            </a:r>
            <a:endParaRPr lang="ko-KR" altLang="ko-KR" sz="2400" b="1" dirty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400" b="1" dirty="0" err="1" smtClean="0">
                <a:latin typeface="HY헤드라인M" pitchFamily="18" charset="-127"/>
                <a:ea typeface="HY헤드라인M" pitchFamily="18" charset="-127"/>
              </a:rPr>
              <a:t>원할하게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 서비스가 가능한 최대 </a:t>
            </a:r>
            <a:r>
              <a:rPr lang="ko-KR" altLang="en-US" sz="2400" b="1" dirty="0" err="1" smtClean="0">
                <a:latin typeface="HY헤드라인M" pitchFamily="18" charset="-127"/>
                <a:ea typeface="HY헤드라인M" pitchFamily="18" charset="-127"/>
              </a:rPr>
              <a:t>접속자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 수는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100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명으로 목표 설정 </a:t>
            </a:r>
            <a:endParaRPr lang="ko-KR" altLang="en-US" sz="2400" b="1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77765" y="264127"/>
            <a:ext cx="7336221" cy="1143000"/>
          </a:xfrm>
        </p:spPr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기술적 요소</a:t>
            </a:r>
            <a:r>
              <a:rPr lang="en-US" altLang="ko-KR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네트워크</a:t>
            </a:r>
            <a:r>
              <a:rPr lang="en-US" altLang="ko-KR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72193" y="6407945"/>
            <a:ext cx="645183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13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489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67068" y="1515167"/>
            <a:ext cx="9650007" cy="3880773"/>
          </a:xfrm>
        </p:spPr>
        <p:txBody>
          <a:bodyPr>
            <a:noAutofit/>
          </a:bodyPr>
          <a:lstStyle/>
          <a:p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3D MAX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와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ZBRUSH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를 이용한 캐릭터 디자인 및 애니메이션</a:t>
            </a:r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4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3D MAX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와 </a:t>
            </a:r>
            <a:r>
              <a:rPr lang="en-US" altLang="ko-KR" sz="2400" b="1" dirty="0" smtClean="0">
                <a:latin typeface="HY헤드라인M" pitchFamily="18" charset="-127"/>
                <a:ea typeface="HY헤드라인M" pitchFamily="18" charset="-127"/>
              </a:rPr>
              <a:t>ZBRUSH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를 이용한 </a:t>
            </a:r>
            <a:r>
              <a:rPr lang="ko-KR" altLang="en-US" sz="2400" b="1" dirty="0" err="1" smtClean="0">
                <a:latin typeface="HY헤드라인M" pitchFamily="18" charset="-127"/>
                <a:ea typeface="HY헤드라인M" pitchFamily="18" charset="-127"/>
              </a:rPr>
              <a:t>맵</a:t>
            </a:r>
            <a:r>
              <a:rPr lang="ko-KR" altLang="en-US" sz="2400" b="1" dirty="0" smtClean="0">
                <a:latin typeface="HY헤드라인M" pitchFamily="18" charset="-127"/>
                <a:ea typeface="HY헤드라인M" pitchFamily="18" charset="-127"/>
              </a:rPr>
              <a:t> 디자인</a:t>
            </a:r>
            <a:endParaRPr lang="ko-KR" altLang="en-US" sz="2400" b="1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3682" y="264128"/>
            <a:ext cx="9532883" cy="1143000"/>
          </a:xfrm>
        </p:spPr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기술적 요소</a:t>
            </a:r>
            <a:r>
              <a:rPr lang="en-US" altLang="ko-KR" b="1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그래픽</a:t>
            </a:r>
            <a:r>
              <a:rPr lang="en-US" altLang="ko-KR" b="1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b="1" dirty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414234" y="6407945"/>
            <a:ext cx="603142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14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489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26296" y="1436532"/>
            <a:ext cx="8596668" cy="3880773"/>
          </a:xfrm>
        </p:spPr>
        <p:txBody>
          <a:bodyPr>
            <a:normAutofit/>
          </a:bodyPr>
          <a:lstStyle/>
          <a:p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클라이언트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:</a:t>
            </a:r>
            <a:r>
              <a:rPr lang="en-US" altLang="ko-KR" sz="2000" b="1" dirty="0" smtClean="0">
                <a:latin typeface="HY헤드라인M"/>
                <a:ea typeface="HY헤드라인M"/>
              </a:rPr>
              <a:t> Directx11</a:t>
            </a:r>
            <a:r>
              <a:rPr lang="ko-KR" altLang="en-US" sz="2000" b="1" dirty="0" smtClean="0">
                <a:latin typeface="HY헤드라인M"/>
                <a:ea typeface="HY헤드라인M"/>
              </a:rPr>
              <a:t>을 기반으로 하여 </a:t>
            </a:r>
            <a:r>
              <a:rPr lang="en-US" altLang="ko-KR" sz="2000" b="1" dirty="0" smtClean="0">
                <a:latin typeface="HY헤드라인M"/>
                <a:ea typeface="HY헤드라인M"/>
              </a:rPr>
              <a:t>3D</a:t>
            </a:r>
            <a:r>
              <a:rPr lang="ko-KR" altLang="en-US" sz="2000" b="1" dirty="0" smtClean="0">
                <a:latin typeface="HY헤드라인M"/>
                <a:ea typeface="HY헤드라인M"/>
              </a:rPr>
              <a:t> 모델을 </a:t>
            </a:r>
            <a:r>
              <a:rPr lang="ko-KR" altLang="en-US" sz="2000" b="1" dirty="0" err="1" smtClean="0">
                <a:latin typeface="HY헤드라인M"/>
                <a:ea typeface="HY헤드라인M"/>
              </a:rPr>
              <a:t>렌더링</a:t>
            </a:r>
            <a:r>
              <a:rPr lang="ko-KR" altLang="en-US" sz="2000" b="1" dirty="0" smtClean="0">
                <a:latin typeface="HY헤드라인M"/>
                <a:ea typeface="HY헤드라인M"/>
              </a:rPr>
              <a:t> 하고 이를 사용한 </a:t>
            </a:r>
            <a:r>
              <a:rPr lang="en-US" altLang="ko-KR" sz="2000" b="1" dirty="0" smtClean="0">
                <a:latin typeface="HY헤드라인M"/>
                <a:ea typeface="HY헤드라인M"/>
              </a:rPr>
              <a:t>FPS</a:t>
            </a:r>
            <a:r>
              <a:rPr lang="ko-KR" altLang="en-US" sz="2000" b="1" dirty="0" smtClean="0">
                <a:latin typeface="HY헤드라인M"/>
                <a:ea typeface="HY헤드라인M"/>
              </a:rPr>
              <a:t>게임 개발</a:t>
            </a:r>
            <a:endParaRPr lang="en-US" altLang="ko-KR" sz="20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0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서버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:IOCP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를 이용하여 클라이언트와 직접 연결하는 단일 서버로 구현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2000" b="1" dirty="0" err="1" smtClean="0">
                <a:latin typeface="HY헤드라인M" pitchFamily="18" charset="-127"/>
                <a:ea typeface="HY헤드라인M" pitchFamily="18" charset="-127"/>
              </a:rPr>
              <a:t>데드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b="1" dirty="0" err="1" smtClean="0">
                <a:latin typeface="HY헤드라인M" pitchFamily="18" charset="-127"/>
                <a:ea typeface="HY헤드라인M" pitchFamily="18" charset="-127"/>
              </a:rPr>
              <a:t>레커닝을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 이용한 서버와 클라이언트의 동기화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서버에서의 공간분할을 이용한 충돌처리 구현</a:t>
            </a:r>
          </a:p>
          <a:p>
            <a:pPr>
              <a:buNone/>
            </a:pPr>
            <a:endParaRPr lang="en-US" altLang="ko-KR" sz="20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기획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게임 디자인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/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게임시스템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-&gt;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게임의 내적 요소 설정 및 기획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게임 내용 세부 설정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/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레벨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/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밸런스 및 흥미요소</a:t>
            </a:r>
            <a:endParaRPr lang="en-US" altLang="ko-KR" sz="20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000" b="1" dirty="0" smtClean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그래픽</a:t>
            </a:r>
            <a:r>
              <a:rPr lang="en-US" altLang="ko-KR" sz="2000" b="1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게임 캐릭터와 </a:t>
            </a:r>
            <a:r>
              <a:rPr lang="ko-KR" altLang="en-US" sz="2000" b="1" dirty="0" err="1" smtClean="0">
                <a:latin typeface="HY헤드라인M" pitchFamily="18" charset="-127"/>
                <a:ea typeface="HY헤드라인M" pitchFamily="18" charset="-127"/>
              </a:rPr>
              <a:t>맵</a:t>
            </a:r>
            <a:r>
              <a:rPr lang="ko-KR" altLang="en-US" sz="2000" b="1" dirty="0" smtClean="0">
                <a:latin typeface="HY헤드라인M" pitchFamily="18" charset="-127"/>
                <a:ea typeface="HY헤드라인M" pitchFamily="18" charset="-127"/>
              </a:rPr>
              <a:t> 디자인 및 자연스러운  캐릭터 애니메이션</a:t>
            </a:r>
            <a:endParaRPr lang="en-US" altLang="ko-KR" sz="2000" b="1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51338" y="285148"/>
            <a:ext cx="5087007" cy="1143000"/>
          </a:xfrm>
        </p:spPr>
        <p:txBody>
          <a:bodyPr/>
          <a:lstStyle/>
          <a:p>
            <a:r>
              <a:rPr lang="ko-KR" altLang="en-US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중점 연구 분야</a:t>
            </a:r>
            <a:endParaRPr lang="ko-KR" altLang="en-US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93214" y="6407945"/>
            <a:ext cx="624162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15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817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47317" y="1447043"/>
            <a:ext cx="8596668" cy="3880773"/>
          </a:xfrm>
        </p:spPr>
        <p:txBody>
          <a:bodyPr>
            <a:normAutofit/>
          </a:bodyPr>
          <a:lstStyle/>
          <a:p>
            <a:r>
              <a:rPr lang="ko-KR" altLang="en-US" sz="2800" b="1" dirty="0" smtClean="0">
                <a:latin typeface="HY헤드라인M" pitchFamily="18" charset="-127"/>
                <a:ea typeface="HY헤드라인M" pitchFamily="18" charset="-127"/>
              </a:rPr>
              <a:t>비슷한 장르의 게임 </a:t>
            </a:r>
            <a:r>
              <a:rPr lang="en-US" altLang="ko-KR" sz="2800" b="1" dirty="0" smtClean="0">
                <a:latin typeface="HY헤드라인M" pitchFamily="18" charset="-127"/>
                <a:ea typeface="HY헤드라인M" pitchFamily="18" charset="-127"/>
              </a:rPr>
              <a:t>– </a:t>
            </a:r>
            <a:r>
              <a:rPr lang="ko-KR" altLang="en-US" sz="2800" b="1" dirty="0" err="1" smtClean="0">
                <a:latin typeface="HY헤드라인M" pitchFamily="18" charset="-127"/>
                <a:ea typeface="HY헤드라인M" pitchFamily="18" charset="-127"/>
              </a:rPr>
              <a:t>오버워치</a:t>
            </a:r>
            <a:endParaRPr lang="en-US" altLang="ko-KR" sz="28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5214" y="274638"/>
            <a:ext cx="6032938" cy="1143000"/>
          </a:xfrm>
        </p:spPr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타 게임과의 비교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3075" name="Picture 3" descr="C:\Users\user\Desktop\장르 비교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8192" y="2036098"/>
            <a:ext cx="6138043" cy="4310855"/>
          </a:xfrm>
          <a:prstGeom prst="rect">
            <a:avLst/>
          </a:prstGeom>
          <a:noFill/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424745" y="6407945"/>
            <a:ext cx="592631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16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966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35725" y="1502350"/>
            <a:ext cx="10972800" cy="4525963"/>
          </a:xfrm>
        </p:spPr>
        <p:txBody>
          <a:bodyPr>
            <a:normAutofit/>
          </a:bodyPr>
          <a:lstStyle/>
          <a:p>
            <a:r>
              <a:rPr lang="ko-KR" altLang="en-US" sz="2800" b="1" dirty="0" smtClean="0">
                <a:latin typeface="HY헤드라인M" pitchFamily="18" charset="-127"/>
                <a:ea typeface="HY헤드라인M" pitchFamily="18" charset="-127"/>
              </a:rPr>
              <a:t>차별화 전략 </a:t>
            </a:r>
            <a:r>
              <a:rPr lang="en-US" altLang="ko-KR" sz="2800" b="1" dirty="0" smtClean="0">
                <a:latin typeface="HY헤드라인M" pitchFamily="18" charset="-127"/>
                <a:ea typeface="HY헤드라인M" pitchFamily="18" charset="-127"/>
              </a:rPr>
              <a:t>– </a:t>
            </a:r>
            <a:r>
              <a:rPr lang="ko-KR" altLang="en-US" sz="2800" b="1" dirty="0" smtClean="0">
                <a:latin typeface="HY헤드라인M" pitchFamily="18" charset="-127"/>
                <a:ea typeface="HY헤드라인M" pitchFamily="18" charset="-127"/>
              </a:rPr>
              <a:t>캐릭터 별 특성을 본 뜬 무기</a:t>
            </a:r>
            <a:endParaRPr lang="en-US" altLang="ko-KR" sz="28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en-US" altLang="ko-KR" sz="2800" b="1" dirty="0" smtClean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타 게임과의 비교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4098" name="Picture 2" descr="C:\Users\user\Desktop\사이드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9775" y="2112579"/>
            <a:ext cx="2211996" cy="2478690"/>
          </a:xfrm>
          <a:prstGeom prst="rect">
            <a:avLst/>
          </a:prstGeom>
          <a:noFill/>
        </p:spPr>
      </p:pic>
      <p:pic>
        <p:nvPicPr>
          <p:cNvPr id="4099" name="Picture 3" descr="C:\Users\user\Desktop\샷건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5876" y="2189163"/>
            <a:ext cx="3132082" cy="2381250"/>
          </a:xfrm>
          <a:prstGeom prst="rect">
            <a:avLst/>
          </a:prstGeom>
          <a:noFill/>
        </p:spPr>
      </p:pic>
      <p:pic>
        <p:nvPicPr>
          <p:cNvPr id="4100" name="Picture 4" descr="C:\Users\user\Desktop\소총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03475" y="2238703"/>
            <a:ext cx="2967749" cy="2482522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156138" y="4855779"/>
            <a:ext cx="2827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HY헤드라인M" pitchFamily="18" charset="-127"/>
                <a:ea typeface="HY헤드라인M" pitchFamily="18" charset="-127"/>
              </a:rPr>
              <a:t>사마귀 캐릭터</a:t>
            </a:r>
            <a:r>
              <a:rPr lang="en-US" altLang="ko-KR" b="1" dirty="0" smtClean="0">
                <a:latin typeface="HY헤드라인M" pitchFamily="18" charset="-127"/>
                <a:ea typeface="HY헤드라인M" pitchFamily="18" charset="-127"/>
              </a:rPr>
              <a:t>- </a:t>
            </a:r>
            <a:r>
              <a:rPr lang="ko-KR" altLang="en-US" b="1" dirty="0" smtClean="0">
                <a:latin typeface="HY헤드라인M" pitchFamily="18" charset="-127"/>
                <a:ea typeface="HY헤드라인M" pitchFamily="18" charset="-127"/>
              </a:rPr>
              <a:t>낫</a:t>
            </a:r>
            <a:r>
              <a:rPr lang="en-US" altLang="ko-KR" b="1" dirty="0" smtClean="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b="1" dirty="0" smtClean="0">
                <a:latin typeface="HY헤드라인M" pitchFamily="18" charset="-127"/>
                <a:ea typeface="HY헤드라인M" pitchFamily="18" charset="-127"/>
              </a:rPr>
              <a:t>사이드</a:t>
            </a:r>
            <a:r>
              <a:rPr lang="en-US" altLang="ko-KR" b="1" dirty="0" smtClean="0"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b="1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56537" y="4850524"/>
            <a:ext cx="2827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HY헤드라인M" pitchFamily="18" charset="-127"/>
                <a:ea typeface="HY헤드라인M" pitchFamily="18" charset="-127"/>
              </a:rPr>
              <a:t>풍뎅이 캐릭터</a:t>
            </a:r>
            <a:r>
              <a:rPr lang="en-US" altLang="ko-KR" b="1" dirty="0" smtClean="0">
                <a:latin typeface="HY헤드라인M" pitchFamily="18" charset="-127"/>
                <a:ea typeface="HY헤드라인M" pitchFamily="18" charset="-127"/>
              </a:rPr>
              <a:t>- </a:t>
            </a:r>
            <a:r>
              <a:rPr lang="ko-KR" altLang="en-US" b="1" dirty="0" err="1" smtClean="0">
                <a:latin typeface="HY헤드라인M" pitchFamily="18" charset="-127"/>
                <a:ea typeface="HY헤드라인M" pitchFamily="18" charset="-127"/>
              </a:rPr>
              <a:t>샷건</a:t>
            </a:r>
            <a:endParaRPr lang="ko-KR" altLang="en-US" b="1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3626" y="4787462"/>
            <a:ext cx="2827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HY헤드라인M" pitchFamily="18" charset="-127"/>
                <a:ea typeface="HY헤드라인M" pitchFamily="18" charset="-127"/>
              </a:rPr>
              <a:t>말벌 캐릭터</a:t>
            </a:r>
            <a:r>
              <a:rPr lang="en-US" altLang="ko-KR" b="1" dirty="0" smtClean="0">
                <a:latin typeface="HY헤드라인M" pitchFamily="18" charset="-127"/>
                <a:ea typeface="HY헤드라인M" pitchFamily="18" charset="-127"/>
              </a:rPr>
              <a:t>- </a:t>
            </a:r>
            <a:r>
              <a:rPr lang="ko-KR" altLang="en-US" b="1" dirty="0" smtClean="0">
                <a:latin typeface="HY헤드라인M" pitchFamily="18" charset="-127"/>
                <a:ea typeface="HY헤드라인M" pitchFamily="18" charset="-127"/>
              </a:rPr>
              <a:t>돌격 소총</a:t>
            </a:r>
            <a:endParaRPr lang="ko-KR" altLang="en-US" b="1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11372193" y="6407945"/>
            <a:ext cx="645183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17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035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02337083"/>
              </p:ext>
            </p:extLst>
          </p:nvPr>
        </p:nvGraphicFramePr>
        <p:xfrm>
          <a:off x="1783446" y="1645579"/>
          <a:ext cx="7106894" cy="337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4726"/>
                <a:gridCol w="5432168"/>
              </a:tblGrid>
              <a:tr h="1125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이찬규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클라이언트 프레임워크</a:t>
                      </a:r>
                      <a:r>
                        <a:rPr lang="en-US" altLang="ko-KR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2000" b="1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쉐이더</a:t>
                      </a:r>
                      <a:r>
                        <a:rPr lang="en-US" altLang="ko-KR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, UI, </a:t>
                      </a:r>
                      <a:r>
                        <a:rPr lang="ko-KR" altLang="en-US" sz="2000" b="1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이펙트</a:t>
                      </a:r>
                      <a:r>
                        <a:rPr lang="ko-KR" altLang="en-US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 등</a:t>
                      </a:r>
                      <a:endParaRPr lang="ko-KR" altLang="en-US" sz="2000" b="1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125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강동훈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네트워크 프레임워크</a:t>
                      </a:r>
                      <a:r>
                        <a:rPr lang="en-US" altLang="ko-KR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, </a:t>
                      </a:r>
                      <a:r>
                        <a:rPr lang="ko-KR" altLang="en-US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서버 및 동기화</a:t>
                      </a:r>
                      <a:r>
                        <a:rPr lang="en-US" altLang="ko-KR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2000" b="1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패킷</a:t>
                      </a:r>
                      <a:r>
                        <a:rPr lang="ko-KR" altLang="en-US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 디자인</a:t>
                      </a:r>
                      <a:r>
                        <a:rPr lang="en-US" altLang="ko-KR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, </a:t>
                      </a:r>
                      <a:r>
                        <a:rPr lang="ko-KR" altLang="en-US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충돌체크 </a:t>
                      </a:r>
                      <a:r>
                        <a:rPr lang="en-US" altLang="ko-KR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,</a:t>
                      </a:r>
                      <a:r>
                        <a:rPr lang="en-US" altLang="ko-KR" sz="2000" b="1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 </a:t>
                      </a:r>
                      <a:r>
                        <a:rPr lang="ko-KR" altLang="en-US" sz="2000" b="1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캐릭터 및 애니메이션 등</a:t>
                      </a:r>
                      <a:endParaRPr lang="ko-KR" altLang="en-US" sz="2000" b="1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125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오은석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캐릭터 및 애니메이션</a:t>
                      </a:r>
                      <a:r>
                        <a:rPr lang="en-US" altLang="ko-KR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, </a:t>
                      </a:r>
                      <a:r>
                        <a:rPr lang="ko-KR" altLang="en-US" sz="2000" b="1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맵디자인</a:t>
                      </a:r>
                      <a:r>
                        <a:rPr lang="en-US" altLang="ko-KR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, </a:t>
                      </a:r>
                      <a:r>
                        <a:rPr lang="ko-KR" altLang="en-US" sz="2000" b="1" dirty="0" smtClean="0">
                          <a:latin typeface="HY헤드라인M" pitchFamily="18" charset="-127"/>
                          <a:ea typeface="HY헤드라인M" pitchFamily="18" charset="-127"/>
                        </a:rPr>
                        <a:t>사운드</a:t>
                      </a:r>
                      <a:r>
                        <a:rPr lang="en-US" altLang="ko-KR" sz="2000" b="1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 </a:t>
                      </a:r>
                      <a:r>
                        <a:rPr lang="ko-KR" altLang="en-US" sz="2000" b="1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등</a:t>
                      </a:r>
                      <a:endParaRPr lang="ko-KR" altLang="en-US" sz="2000" b="1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87972" y="316680"/>
            <a:ext cx="8229600" cy="1143000"/>
          </a:xfrm>
        </p:spPr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개발 일정 및 역할 분담</a:t>
            </a:r>
            <a:endParaRPr lang="ko-KR" altLang="en-US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382703" y="6407945"/>
            <a:ext cx="634673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18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566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내용 개체 틀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238856367"/>
              </p:ext>
            </p:extLst>
          </p:nvPr>
        </p:nvGraphicFramePr>
        <p:xfrm>
          <a:off x="963738" y="1141360"/>
          <a:ext cx="10830573" cy="504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652"/>
                <a:gridCol w="1106199"/>
                <a:gridCol w="1169340"/>
                <a:gridCol w="1203397"/>
                <a:gridCol w="1203397"/>
                <a:gridCol w="1203397"/>
                <a:gridCol w="1203397"/>
                <a:gridCol w="1203397"/>
                <a:gridCol w="1203397"/>
              </a:tblGrid>
              <a:tr h="1654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개발목록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HY헤드라인M" pitchFamily="18" charset="-127"/>
                          <a:ea typeface="HY헤드라인M" pitchFamily="18" charset="-127"/>
                        </a:rPr>
                        <a:t>1</a:t>
                      </a:r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HY헤드라인M" pitchFamily="18" charset="-127"/>
                          <a:ea typeface="HY헤드라인M" pitchFamily="18" charset="-127"/>
                        </a:rPr>
                        <a:t>2</a:t>
                      </a:r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HY헤드라인M" pitchFamily="18" charset="-127"/>
                          <a:ea typeface="HY헤드라인M" pitchFamily="18" charset="-127"/>
                        </a:rPr>
                        <a:t>3</a:t>
                      </a:r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HY헤드라인M" pitchFamily="18" charset="-127"/>
                          <a:ea typeface="HY헤드라인M" pitchFamily="18" charset="-127"/>
                        </a:rPr>
                        <a:t>4</a:t>
                      </a:r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HY헤드라인M" pitchFamily="18" charset="-127"/>
                          <a:ea typeface="HY헤드라인M" pitchFamily="18" charset="-127"/>
                        </a:rPr>
                        <a:t>5</a:t>
                      </a:r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HY헤드라인M" pitchFamily="18" charset="-127"/>
                          <a:ea typeface="HY헤드라인M" pitchFamily="18" charset="-127"/>
                        </a:rPr>
                        <a:t>6</a:t>
                      </a:r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HY헤드라인M" pitchFamily="18" charset="-127"/>
                          <a:ea typeface="HY헤드라인M" pitchFamily="18" charset="-127"/>
                        </a:rPr>
                        <a:t>7</a:t>
                      </a:r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HY헤드라인M" pitchFamily="18" charset="-127"/>
                          <a:ea typeface="HY헤드라인M" pitchFamily="18" charset="-127"/>
                        </a:rPr>
                        <a:t>8</a:t>
                      </a:r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월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</a:tr>
              <a:tr h="3362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쉐이더</a:t>
                      </a:r>
                      <a:endParaRPr lang="ko-KR" altLang="en-US" sz="16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336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HY헤드라인M" pitchFamily="18" charset="-127"/>
                          <a:ea typeface="HY헤드라인M" pitchFamily="18" charset="-127"/>
                        </a:rPr>
                        <a:t>UI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3846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이펙트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5305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프레임워크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3362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맵</a:t>
                      </a:r>
                      <a:r>
                        <a:rPr lang="ko-KR" altLang="en-US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 디자인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3362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사운드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5883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캐릭터 및</a:t>
                      </a:r>
                      <a:endParaRPr lang="en-US" altLang="ko-KR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latinLnBrk="1"/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애니메이션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5883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네트워크</a:t>
                      </a:r>
                      <a:endParaRPr lang="en-US" altLang="ko-KR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latinLnBrk="1"/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프레임워크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4431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latin typeface="HY헤드라인M" pitchFamily="18" charset="-127"/>
                          <a:ea typeface="HY헤드라인M" pitchFamily="18" charset="-127"/>
                        </a:rPr>
                        <a:t>충돌체크</a:t>
                      </a:r>
                      <a:endParaRPr lang="ko-KR" altLang="en-US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5519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서버</a:t>
                      </a:r>
                      <a:endParaRPr lang="en-US" altLang="ko-KR" sz="16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latinLnBrk="1"/>
                      <a:r>
                        <a:rPr lang="ko-KR" altLang="en-US" sz="1600" dirty="0" smtClean="0">
                          <a:latin typeface="HY헤드라인M" pitchFamily="18" charset="-127"/>
                          <a:ea typeface="HY헤드라인M" pitchFamily="18" charset="-127"/>
                        </a:rPr>
                        <a:t>동기화</a:t>
                      </a:r>
                      <a:endParaRPr lang="ko-KR" altLang="en-US" sz="16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64455" y="0"/>
            <a:ext cx="8596668" cy="1103870"/>
          </a:xfrm>
        </p:spPr>
        <p:txBody>
          <a:bodyPr>
            <a:normAutofit fontScale="90000"/>
          </a:bodyPr>
          <a:lstStyle/>
          <a:p>
            <a:r>
              <a:rPr lang="ko-KR" altLang="en-US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개발 일정 및 역할 분담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dirty="0"/>
              <a:t> </a:t>
            </a:r>
            <a:r>
              <a:rPr lang="en-US" altLang="ko-KR" dirty="0" smtClean="0"/>
              <a:t>                    </a:t>
            </a:r>
            <a:r>
              <a:rPr lang="ko-KR" altLang="en-US" sz="2800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이찬규</a:t>
            </a:r>
            <a:r>
              <a:rPr lang="en-US" altLang="ko-KR" sz="2800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           </a:t>
            </a:r>
            <a:r>
              <a:rPr lang="ko-KR" altLang="en-US" sz="2800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강동훈</a:t>
            </a:r>
            <a:r>
              <a:rPr lang="en-US" altLang="ko-KR" sz="2800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          </a:t>
            </a:r>
            <a:r>
              <a:rPr lang="ko-KR" altLang="en-US" sz="2800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오은석</a:t>
            </a:r>
            <a:endParaRPr lang="ko-KR" altLang="en-US" sz="2800" dirty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7" name="순서도: 대체 처리 16"/>
          <p:cNvSpPr/>
          <p:nvPr/>
        </p:nvSpPr>
        <p:spPr>
          <a:xfrm>
            <a:off x="4946060" y="607464"/>
            <a:ext cx="605307" cy="412124"/>
          </a:xfrm>
          <a:prstGeom prst="flowChartAlternateProces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7073069" y="596954"/>
            <a:ext cx="566670" cy="412124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9078949" y="634405"/>
            <a:ext cx="566670" cy="41212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/>
          <p:cNvSpPr/>
          <p:nvPr/>
        </p:nvSpPr>
        <p:spPr>
          <a:xfrm>
            <a:off x="2361432" y="1570560"/>
            <a:ext cx="6903012" cy="246844"/>
          </a:xfrm>
          <a:prstGeom prst="flowChartAlternateProcess">
            <a:avLst/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/>
          <p:cNvSpPr/>
          <p:nvPr/>
        </p:nvSpPr>
        <p:spPr>
          <a:xfrm>
            <a:off x="5568778" y="1899963"/>
            <a:ext cx="4670854" cy="246844"/>
          </a:xfrm>
          <a:prstGeom prst="flowChartAlternateProcess">
            <a:avLst/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대체 처리 21"/>
          <p:cNvSpPr/>
          <p:nvPr/>
        </p:nvSpPr>
        <p:spPr>
          <a:xfrm>
            <a:off x="9480331" y="2270234"/>
            <a:ext cx="1902372" cy="115614"/>
          </a:xfrm>
          <a:prstGeom prst="flowChartAlternateProcess">
            <a:avLst/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순서도: 대체 처리 22"/>
          <p:cNvSpPr/>
          <p:nvPr/>
        </p:nvSpPr>
        <p:spPr>
          <a:xfrm>
            <a:off x="2456025" y="2659409"/>
            <a:ext cx="3284041" cy="166169"/>
          </a:xfrm>
          <a:prstGeom prst="flowChartAlternateProcess">
            <a:avLst/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2444300" y="2853984"/>
            <a:ext cx="3285255" cy="148281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2382452" y="4627717"/>
            <a:ext cx="5721024" cy="266165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2438399" y="4246179"/>
            <a:ext cx="3226677" cy="157656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4731514" y="3205655"/>
            <a:ext cx="4622693" cy="1956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34"/>
          <p:cNvSpPr/>
          <p:nvPr/>
        </p:nvSpPr>
        <p:spPr>
          <a:xfrm>
            <a:off x="9501350" y="3594537"/>
            <a:ext cx="1754459" cy="19564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2403473" y="3964324"/>
            <a:ext cx="3251094" cy="1872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5831753" y="5417719"/>
            <a:ext cx="2260445" cy="133080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순서도: 대체 처리 37"/>
          <p:cNvSpPr/>
          <p:nvPr/>
        </p:nvSpPr>
        <p:spPr>
          <a:xfrm>
            <a:off x="5860937" y="5202621"/>
            <a:ext cx="2211008" cy="154818"/>
          </a:xfrm>
          <a:prstGeom prst="flowChartAlternateProcess">
            <a:avLst/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5898163" y="5662987"/>
            <a:ext cx="4664734" cy="348930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9503764" y="2480441"/>
            <a:ext cx="1878939" cy="8287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>
          <a:xfrm>
            <a:off x="11414234" y="6407945"/>
            <a:ext cx="603142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19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1204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156138" y="1281633"/>
            <a:ext cx="9795641" cy="4525963"/>
          </a:xfrm>
        </p:spPr>
        <p:txBody>
          <a:bodyPr>
            <a:normAutofit lnSpcReduction="10000"/>
          </a:bodyPr>
          <a:lstStyle/>
          <a:p>
            <a:r>
              <a:rPr lang="ko-KR" altLang="en-US" sz="2200" b="1" dirty="0" smtClean="0">
                <a:latin typeface="HY헤드라인M" pitchFamily="18" charset="-127"/>
                <a:ea typeface="HY헤드라인M" pitchFamily="18" charset="-127"/>
              </a:rPr>
              <a:t>플레이 화면 예시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</a:rPr>
              <a:t>:</a:t>
            </a:r>
            <a:r>
              <a:rPr lang="en-US" altLang="ko-KR" sz="2200" b="1" dirty="0" smtClean="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  <a:hlinkClick r:id="rId2"/>
              </a:rPr>
              <a:t> http://post.naver.com/viewer/postView.nhn?volumeNo=5013328&amp;memberNo=9091277&amp;vType=VERTICAL</a:t>
            </a:r>
            <a:r>
              <a:rPr lang="en-US" altLang="ko-KR" sz="2200" b="1" dirty="0" smtClean="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</a:p>
          <a:p>
            <a:r>
              <a:rPr lang="ko-KR" altLang="en-US" sz="2200" b="1" dirty="0" smtClean="0">
                <a:latin typeface="HY헤드라인M" pitchFamily="18" charset="-127"/>
                <a:ea typeface="HY헤드라인M" pitchFamily="18" charset="-127"/>
              </a:rPr>
              <a:t>키보드와 마우스 그림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  <a:hlinkClick r:id="rId3"/>
              </a:rPr>
              <a:t>https://gigglehd.com/zbxe/13191771</a:t>
            </a:r>
            <a:endParaRPr lang="en-US" altLang="ko-KR" sz="22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200" b="1" dirty="0" smtClean="0">
                <a:latin typeface="HY헤드라인M" pitchFamily="18" charset="-127"/>
                <a:ea typeface="HY헤드라인M" pitchFamily="18" charset="-127"/>
              </a:rPr>
              <a:t>장르비교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  <a:hlinkClick r:id="rId4"/>
              </a:rPr>
              <a:t>http://gameabout.com/review2/3515248</a:t>
            </a:r>
            <a:endParaRPr lang="en-US" altLang="ko-KR" sz="22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200" b="1" dirty="0" smtClean="0">
                <a:latin typeface="HY헤드라인M" pitchFamily="18" charset="-127"/>
                <a:ea typeface="HY헤드라인M" pitchFamily="18" charset="-127"/>
              </a:rPr>
              <a:t>낫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2200" b="1" dirty="0" smtClean="0">
                <a:latin typeface="HY헤드라인M" pitchFamily="18" charset="-127"/>
                <a:ea typeface="HY헤드라인M" pitchFamily="18" charset="-127"/>
              </a:rPr>
              <a:t>사이드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</a:rPr>
              <a:t>): 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  <a:hlinkClick r:id="rId5"/>
              </a:rPr>
              <a:t>http://gameabout.com/mabinogi_bbs/2438699</a:t>
            </a:r>
            <a:endParaRPr lang="en-US" altLang="ko-KR" sz="22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200" b="1" dirty="0" err="1" smtClean="0">
                <a:latin typeface="HY헤드라인M" pitchFamily="18" charset="-127"/>
                <a:ea typeface="HY헤드라인M" pitchFamily="18" charset="-127"/>
              </a:rPr>
              <a:t>샷건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  <a:hlinkClick r:id="rId6"/>
              </a:rPr>
              <a:t>http://bemil.chosun.com/site/data/html_dir/2011/05/18/2011051800855.html</a:t>
            </a:r>
            <a:endParaRPr lang="en-US" altLang="ko-KR" sz="2200" b="1" dirty="0" smtClean="0">
              <a:latin typeface="HY헤드라인M" pitchFamily="18" charset="-127"/>
              <a:ea typeface="HY헤드라인M" pitchFamily="18" charset="-127"/>
            </a:endParaRPr>
          </a:p>
          <a:p>
            <a:r>
              <a:rPr lang="ko-KR" altLang="en-US" sz="2200" b="1" dirty="0" smtClean="0">
                <a:latin typeface="HY헤드라인M" pitchFamily="18" charset="-127"/>
                <a:ea typeface="HY헤드라인M" pitchFamily="18" charset="-127"/>
              </a:rPr>
              <a:t>돌격 소총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en-US" altLang="ko-KR" sz="2200" b="1" dirty="0" smtClean="0">
                <a:latin typeface="HY헤드라인M" pitchFamily="18" charset="-127"/>
                <a:ea typeface="HY헤드라인M" pitchFamily="18" charset="-127"/>
                <a:hlinkClick r:id="rId7"/>
              </a:rPr>
              <a:t>http://zzang1847.tistory.com/category/%ED%98%84%EB%8C%80%EC%9D%98%20%EA%B0%9C%EC%9D%B8%ED%99%94%EA%B8%B0/%EB%8F%8C%EA%B2%A9%EC%86%8C%EC%B4%9D%5BAR%5D</a:t>
            </a:r>
            <a:endParaRPr lang="en-US" altLang="ko-KR" sz="2200" b="1" dirty="0" smtClean="0">
              <a:latin typeface="HY헤드라인M" pitchFamily="18" charset="-127"/>
              <a:ea typeface="HY헤드라인M" pitchFamily="18" charset="-127"/>
            </a:endParaRPr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103587" y="243107"/>
            <a:ext cx="4330262" cy="1143000"/>
          </a:xfrm>
        </p:spPr>
        <p:txBody>
          <a:bodyPr/>
          <a:lstStyle/>
          <a:p>
            <a:r>
              <a:rPr lang="ko-KR" altLang="en-US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출처</a:t>
            </a:r>
            <a:endParaRPr lang="ko-KR" altLang="en-US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40662" y="6407945"/>
            <a:ext cx="676714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20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4997" y="2896496"/>
            <a:ext cx="8596668" cy="1094619"/>
          </a:xfrm>
        </p:spPr>
        <p:txBody>
          <a:bodyPr>
            <a:normAutofit/>
          </a:bodyPr>
          <a:lstStyle/>
          <a:p>
            <a:pPr algn="ctr"/>
            <a:r>
              <a:rPr lang="ko-KR" altLang="en-US" sz="4800" b="1" dirty="0" smtClean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감사합니다</a:t>
            </a:r>
            <a:r>
              <a:rPr lang="en-US" altLang="ko-KR" sz="4800" b="1" dirty="0"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.</a:t>
            </a:r>
            <a:endParaRPr lang="ko-KR" altLang="en-US" sz="4800" b="1" dirty="0"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1393214" y="6407945"/>
            <a:ext cx="624162" cy="365125"/>
          </a:xfrm>
        </p:spPr>
        <p:txBody>
          <a:bodyPr/>
          <a:lstStyle/>
          <a:p>
            <a:fld id="{519954A3-9DFD-4C44-94BA-B95130A3BA1C}" type="slidenum">
              <a:rPr lang="en-US" sz="2000" b="1" smtClean="0">
                <a:latin typeface="HY견고딕" pitchFamily="18" charset="-127"/>
                <a:ea typeface="HY견고딕" pitchFamily="18" charset="-127"/>
              </a:rPr>
              <a:pPr/>
              <a:t>21</a:t>
            </a:fld>
            <a:endParaRPr lang="en-US" sz="2000" b="1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8528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1708</TotalTime>
  <Words>613</Words>
  <Application>Microsoft Office PowerPoint</Application>
  <PresentationFormat>사용자 지정</PresentationFormat>
  <Paragraphs>185</Paragraphs>
  <Slides>21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광장</vt:lpstr>
      <vt:lpstr>Predators</vt:lpstr>
      <vt:lpstr>목 차</vt:lpstr>
      <vt:lpstr>게임 요약 정보</vt:lpstr>
      <vt:lpstr>기획의도</vt:lpstr>
      <vt:lpstr>기획의도</vt:lpstr>
      <vt:lpstr>게임 소개 및 특징</vt:lpstr>
      <vt:lpstr>게임 소개 및 특징</vt:lpstr>
      <vt:lpstr>게임 소개 및 특징</vt:lpstr>
      <vt:lpstr>게임 방법</vt:lpstr>
      <vt:lpstr>게임 방법</vt:lpstr>
      <vt:lpstr>개발 환경</vt:lpstr>
      <vt:lpstr>기술적 요소(클라이언트)</vt:lpstr>
      <vt:lpstr>기술적 요소(네트워크)</vt:lpstr>
      <vt:lpstr>기술적 요소(그래픽)</vt:lpstr>
      <vt:lpstr>중점 연구 분야</vt:lpstr>
      <vt:lpstr>타 게임과의 비교</vt:lpstr>
      <vt:lpstr>타 게임과의 비교</vt:lpstr>
      <vt:lpstr>개발 일정 및 역할 분담</vt:lpstr>
      <vt:lpstr>개발 일정 및 역할 분담                      이찬규           강동훈          오은석</vt:lpstr>
      <vt:lpstr>출처</vt:lpstr>
      <vt:lpstr>감사합니다.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Saviors</dc:title>
  <dc:creator>dalgyu</dc:creator>
  <cp:lastModifiedBy>user</cp:lastModifiedBy>
  <cp:revision>156</cp:revision>
  <dcterms:created xsi:type="dcterms:W3CDTF">2015-12-12T06:56:17Z</dcterms:created>
  <dcterms:modified xsi:type="dcterms:W3CDTF">2016-12-28T10:52:23Z</dcterms:modified>
</cp:coreProperties>
</file>